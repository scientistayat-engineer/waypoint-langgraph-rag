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2aaa62b-f567-8060-e9df-8491ff9a69b7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Project" id="{d20e7e9f-ddda-f8f6-42f3-a140b30f56ea}">
          <p14:sldIdLst>
            <p14:sldId id="263"/>
            <p14:sldId id="264"/>
            <p14:sldId id="265"/>
            <p14:sldId id="266"/>
          </p14:sldIdLst>
        </p14:section>
        <p14:section name="Next" id="{951e96f9-049f-ffba-2704-43c330858389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Three tools from the same ecosystem, each with its own job. Then we look at a small LangGraph RAG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LangChain builds the app, LangGraph controls the flow, LangSmith lets you see and measure what happened.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LangChain is the toolbox: models, prompts, retrievers and tools you plug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graph of nodes connected by edges. Edges can also loop back or branch, which is what makes LangGraph different from a straight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words explain almost everything in LangGraph: state, node, edge, checkpoint.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LangSmith shows what happened inside a run and lets you compare versions on the same test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quick side by side. They are complementary, not competing.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 apply the ideas to a small working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goes in, retrieve fills context, generate fills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workflow is these twelve lines: state, two nodes, three edges, compile.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on purpose: three sentences, local embeddings, one LLM call. Swap the sentences for your own documents to extend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sensible order to learn them. The class project is step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Official docs are the best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493776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3035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langchain.com/oss/python/langchain/overview" TargetMode="External"/><Relationship Id="rId2" Type="http://schemas.openxmlformats.org/officeDocument/2006/relationships/hyperlink" Target="https://docs.langchain.com/oss/python/langgraph/overview" TargetMode="External"/><Relationship Id="rId3" Type="http://schemas.openxmlformats.org/officeDocument/2006/relationships/hyperlink" Target="https://docs.langchain.com/langsmith/observability" TargetMode="External"/><Relationship Id="rId4" Type="http://schemas.openxmlformats.org/officeDocument/2006/relationships/hyperlink" Target="https://docs.langchain.com/langsmith/evaluation" TargetMode="External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4864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LangChain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LangGraph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LangSmith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17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What they do, where to use them, and a LangGraph RAG project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 beginner’s guide to building AI applications</a:t>
            </a:r>
            <a:endParaRPr lang="en-US" sz="1400" dirty="0"/>
          </a:p>
        </p:txBody>
      </p:sp>
      <p:sp>
        <p:nvSpPr>
          <p:cNvPr id="5" name="Connector line"/>
          <p:cNvSpPr/>
          <p:nvPr/>
        </p:nvSpPr>
        <p:spPr>
          <a:xfrm>
            <a:off x="7223760" y="1325880"/>
            <a:ext cx="0" cy="24688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6" name="LangChain circle"/>
          <p:cNvSpPr/>
          <p:nvPr/>
        </p:nvSpPr>
        <p:spPr>
          <a:xfrm>
            <a:off x="6766560" y="8229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LangChai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2" y="1078992"/>
            <a:ext cx="402336" cy="402336"/>
          </a:xfrm>
          <a:prstGeom prst="rect">
            <a:avLst/>
          </a:prstGeom>
        </p:spPr>
      </p:pic>
      <p:sp>
        <p:nvSpPr>
          <p:cNvPr id="8" name="LangGraph circle"/>
          <p:cNvSpPr/>
          <p:nvPr/>
        </p:nvSpPr>
        <p:spPr>
          <a:xfrm>
            <a:off x="6766560" y="196596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LangGraph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2221992"/>
            <a:ext cx="402336" cy="402336"/>
          </a:xfrm>
          <a:prstGeom prst="rect">
            <a:avLst/>
          </a:prstGeom>
        </p:spPr>
      </p:pic>
      <p:sp>
        <p:nvSpPr>
          <p:cNvPr id="10" name="LangSmith circle"/>
          <p:cNvSpPr/>
          <p:nvPr/>
        </p:nvSpPr>
        <p:spPr>
          <a:xfrm>
            <a:off x="6766560" y="310896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LangSmith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336499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Three tools, three roles</a:t>
            </a:r>
            <a:endParaRPr lang="en-US" sz="3600" dirty="0"/>
          </a:p>
        </p:txBody>
      </p:sp>
      <p:sp>
        <p:nvSpPr>
          <p:cNvPr id="3" name="LangChain card"/>
          <p:cNvSpPr/>
          <p:nvPr/>
        </p:nvSpPr>
        <p:spPr>
          <a:xfrm>
            <a:off x="548640" y="1280160"/>
            <a:ext cx="2499055" cy="2834640"/>
          </a:xfrm>
          <a:prstGeom prst="roundRect">
            <a:avLst>
              <a:gd name="adj" fmla="val 43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LangChain circle"/>
          <p:cNvSpPr/>
          <p:nvPr/>
        </p:nvSpPr>
        <p:spPr>
          <a:xfrm>
            <a:off x="822960" y="1554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LangChai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746504"/>
            <a:ext cx="301752" cy="301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23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LangChain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Build the application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Connect a model to prompts, tools, and your data.</a:t>
            </a:r>
            <a:endParaRPr lang="en-US" sz="1400" dirty="0"/>
          </a:p>
        </p:txBody>
      </p:sp>
      <p:sp>
        <p:nvSpPr>
          <p:cNvPr id="9" name="LangGraph card"/>
          <p:cNvSpPr/>
          <p:nvPr/>
        </p:nvSpPr>
        <p:spPr>
          <a:xfrm>
            <a:off x="3322015" y="1280160"/>
            <a:ext cx="2499055" cy="2834640"/>
          </a:xfrm>
          <a:prstGeom prst="roundRect">
            <a:avLst>
              <a:gd name="adj" fmla="val 43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LangGraph circle"/>
          <p:cNvSpPr/>
          <p:nvPr/>
        </p:nvSpPr>
        <p:spPr>
          <a:xfrm>
            <a:off x="3596335" y="15544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LangGraph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359" y="17465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96335" y="2423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LangGraph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3596335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Control the workflow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596335" y="3200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Choose steps, branches, and how state moves between them.</a:t>
            </a:r>
            <a:endParaRPr lang="en-US" sz="1400" dirty="0"/>
          </a:p>
        </p:txBody>
      </p:sp>
      <p:sp>
        <p:nvSpPr>
          <p:cNvPr id="15" name="LangSmith card"/>
          <p:cNvSpPr/>
          <p:nvPr/>
        </p:nvSpPr>
        <p:spPr>
          <a:xfrm>
            <a:off x="6095390" y="1280160"/>
            <a:ext cx="2499055" cy="2834640"/>
          </a:xfrm>
          <a:prstGeom prst="roundRect">
            <a:avLst>
              <a:gd name="adj" fmla="val 43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LangSmith circle"/>
          <p:cNvSpPr/>
          <p:nvPr/>
        </p:nvSpPr>
        <p:spPr>
          <a:xfrm>
            <a:off x="6369710" y="155448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LangSmith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734" y="174650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69710" y="2423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LangSmith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6369710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Inspect and improve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369710" y="3200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Trace runs and test the quality of outputs.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43434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LangChain agents use LangGraph underneath. LangSmith can work with either.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is LangChain?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framework that connects language models to the components your application needs.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What it provides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 integrations, prompt templates, retrievers, and agent tools.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529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Where to use it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72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Document Q&amp;A, chatbots, and assistants that call tools.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9417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Benefits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684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Reuse components and switch providers with less integration code.</a:t>
            </a:r>
            <a:endParaRPr lang="en-US" sz="1400" dirty="0"/>
          </a:p>
        </p:txBody>
      </p:sp>
      <p:sp>
        <p:nvSpPr>
          <p:cNvPr id="10" name="LangChain panel"/>
          <p:cNvSpPr/>
          <p:nvPr/>
        </p:nvSpPr>
        <p:spPr>
          <a:xfrm>
            <a:off x="5029200" y="1188720"/>
            <a:ext cx="35661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Building blocks</a:t>
            </a:r>
            <a:endParaRPr lang="en-US" sz="1400" dirty="0"/>
          </a:p>
        </p:txBody>
      </p:sp>
      <p:sp>
        <p:nvSpPr>
          <p:cNvPr id="12" name="Models chip"/>
          <p:cNvSpPr/>
          <p:nvPr/>
        </p:nvSpPr>
        <p:spPr>
          <a:xfrm>
            <a:off x="5257800" y="1828800"/>
            <a:ext cx="146304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57800" y="18288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Models</a:t>
            </a:r>
            <a:endParaRPr lang="en-US" sz="1600" dirty="0"/>
          </a:p>
        </p:txBody>
      </p:sp>
      <p:sp>
        <p:nvSpPr>
          <p:cNvPr id="14" name="Prompts chip"/>
          <p:cNvSpPr/>
          <p:nvPr/>
        </p:nvSpPr>
        <p:spPr>
          <a:xfrm>
            <a:off x="6903720" y="1828800"/>
            <a:ext cx="146304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03720" y="18288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Prompts</a:t>
            </a:r>
            <a:endParaRPr lang="en-US" sz="1600" dirty="0"/>
          </a:p>
        </p:txBody>
      </p:sp>
      <p:sp>
        <p:nvSpPr>
          <p:cNvPr id="16" name="Retrievers chip"/>
          <p:cNvSpPr/>
          <p:nvPr/>
        </p:nvSpPr>
        <p:spPr>
          <a:xfrm>
            <a:off x="5257800" y="2697480"/>
            <a:ext cx="146304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57800" y="26974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Retrievers</a:t>
            </a:r>
            <a:endParaRPr lang="en-US" sz="1600" dirty="0"/>
          </a:p>
        </p:txBody>
      </p:sp>
      <p:sp>
        <p:nvSpPr>
          <p:cNvPr id="18" name="Tools chip"/>
          <p:cNvSpPr/>
          <p:nvPr/>
        </p:nvSpPr>
        <p:spPr>
          <a:xfrm>
            <a:off x="6903720" y="2697480"/>
            <a:ext cx="146304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26974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Tools</a:t>
            </a:r>
            <a:endParaRPr lang="en-US" sz="1600" dirty="0"/>
          </a:p>
        </p:txBody>
      </p:sp>
      <p:sp>
        <p:nvSpPr>
          <p:cNvPr id="20" name="Arrow down"/>
          <p:cNvSpPr/>
          <p:nvPr/>
        </p:nvSpPr>
        <p:spPr>
          <a:xfrm>
            <a:off x="6812280" y="3520440"/>
            <a:ext cx="0" cy="27432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1" name="App bar"/>
          <p:cNvSpPr/>
          <p:nvPr/>
        </p:nvSpPr>
        <p:spPr>
          <a:xfrm>
            <a:off x="5257800" y="3840480"/>
            <a:ext cx="3108960" cy="45720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57800" y="3840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Your application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is LangGraph?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framework for AI workflows that share state and need explicit control over execution.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What it provides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Nodes, edges, branches, and support for saved state.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529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Where to use it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72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Workflows with review steps, loops, or several agents.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9417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Benefits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684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Control the next step and resume runs with configured persistence.</a:t>
            </a:r>
            <a:endParaRPr lang="en-US" sz="1400" dirty="0"/>
          </a:p>
        </p:txBody>
      </p:sp>
      <p:sp>
        <p:nvSpPr>
          <p:cNvPr id="10" name="LangGraph panel"/>
          <p:cNvSpPr/>
          <p:nvPr/>
        </p:nvSpPr>
        <p:spPr>
          <a:xfrm>
            <a:off x="5029200" y="1188720"/>
            <a:ext cx="35661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TART node"/>
          <p:cNvSpPr/>
          <p:nvPr/>
        </p:nvSpPr>
        <p:spPr>
          <a:xfrm>
            <a:off x="5852160" y="1371600"/>
            <a:ext cx="155448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5216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START</a:t>
            </a:r>
            <a:endParaRPr lang="en-US" sz="1400" dirty="0"/>
          </a:p>
        </p:txBody>
      </p:sp>
      <p:sp>
        <p:nvSpPr>
          <p:cNvPr id="13" name="Node A"/>
          <p:cNvSpPr/>
          <p:nvPr/>
        </p:nvSpPr>
        <p:spPr>
          <a:xfrm>
            <a:off x="5852160" y="2148840"/>
            <a:ext cx="155448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0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Node A</a:t>
            </a:r>
            <a:endParaRPr lang="en-US" sz="1400" dirty="0"/>
          </a:p>
        </p:txBody>
      </p:sp>
      <p:sp>
        <p:nvSpPr>
          <p:cNvPr id="15" name="Node B"/>
          <p:cNvSpPr/>
          <p:nvPr/>
        </p:nvSpPr>
        <p:spPr>
          <a:xfrm>
            <a:off x="5852160" y="2926080"/>
            <a:ext cx="155448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52160" y="2926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Node B</a:t>
            </a:r>
            <a:endParaRPr lang="en-US" sz="1400" dirty="0"/>
          </a:p>
        </p:txBody>
      </p:sp>
      <p:sp>
        <p:nvSpPr>
          <p:cNvPr id="17" name="END node"/>
          <p:cNvSpPr/>
          <p:nvPr/>
        </p:nvSpPr>
        <p:spPr>
          <a:xfrm>
            <a:off x="5852160" y="3703320"/>
            <a:ext cx="155448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52160" y="3703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END</a:t>
            </a:r>
            <a:endParaRPr lang="en-US" sz="1400" dirty="0"/>
          </a:p>
        </p:txBody>
      </p:sp>
      <p:sp>
        <p:nvSpPr>
          <p:cNvPr id="19" name="Edge 1"/>
          <p:cNvSpPr/>
          <p:nvPr/>
        </p:nvSpPr>
        <p:spPr>
          <a:xfrm>
            <a:off x="6629400" y="1828800"/>
            <a:ext cx="0" cy="32004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0" name="Edge 2"/>
          <p:cNvSpPr/>
          <p:nvPr/>
        </p:nvSpPr>
        <p:spPr>
          <a:xfrm>
            <a:off x="6629400" y="2606040"/>
            <a:ext cx="0" cy="32004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1" name="Edge 3"/>
          <p:cNvSpPr/>
          <p:nvPr/>
        </p:nvSpPr>
        <p:spPr>
          <a:xfrm>
            <a:off x="6629400" y="3383280"/>
            <a:ext cx="0" cy="32004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2" name="Loop out"/>
          <p:cNvSpPr/>
          <p:nvPr/>
        </p:nvSpPr>
        <p:spPr>
          <a:xfrm>
            <a:off x="7406640" y="3154680"/>
            <a:ext cx="50292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23" name="Loop up"/>
          <p:cNvSpPr/>
          <p:nvPr/>
        </p:nvSpPr>
        <p:spPr>
          <a:xfrm>
            <a:off x="7909560" y="2377440"/>
            <a:ext cx="0" cy="77724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24" name="Loop back"/>
          <p:cNvSpPr/>
          <p:nvPr/>
        </p:nvSpPr>
        <p:spPr>
          <a:xfrm flipH="1">
            <a:off x="7406640" y="2377440"/>
            <a:ext cx="50292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LangGraph vocabulary</a:t>
            </a:r>
            <a:endParaRPr lang="en-US" sz="3600" dirty="0"/>
          </a:p>
        </p:txBody>
      </p:sp>
      <p:sp>
        <p:nvSpPr>
          <p:cNvPr id="3" name="State card"/>
          <p:cNvSpPr/>
          <p:nvPr/>
        </p:nvSpPr>
        <p:spPr>
          <a:xfrm>
            <a:off x="548640" y="128016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tate circle"/>
          <p:cNvSpPr/>
          <p:nvPr/>
        </p:nvSpPr>
        <p:spPr>
          <a:xfrm>
            <a:off x="777240" y="15544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Stat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462" y="173370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State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920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Shared data, such as question, retrieved context, and answer.</a:t>
            </a:r>
            <a:endParaRPr lang="en-US" sz="1400" dirty="0"/>
          </a:p>
        </p:txBody>
      </p:sp>
      <p:sp>
        <p:nvSpPr>
          <p:cNvPr id="8" name="Node card"/>
          <p:cNvSpPr/>
          <p:nvPr/>
        </p:nvSpPr>
        <p:spPr>
          <a:xfrm>
            <a:off x="4663440" y="128016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Node circle"/>
          <p:cNvSpPr/>
          <p:nvPr/>
        </p:nvSpPr>
        <p:spPr>
          <a:xfrm>
            <a:off x="4892040" y="15544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Nod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262" y="173370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Node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5715000" y="1920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function that performs one step and returns a state update.</a:t>
            </a:r>
            <a:endParaRPr lang="en-US" sz="1400" dirty="0"/>
          </a:p>
        </p:txBody>
      </p:sp>
      <p:sp>
        <p:nvSpPr>
          <p:cNvPr id="13" name="Edge card"/>
          <p:cNvSpPr/>
          <p:nvPr/>
        </p:nvSpPr>
        <p:spPr>
          <a:xfrm>
            <a:off x="548640" y="292608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Edge circle"/>
          <p:cNvSpPr/>
          <p:nvPr/>
        </p:nvSpPr>
        <p:spPr>
          <a:xfrm>
            <a:off x="777240" y="32004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Edg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462" y="3379622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Edge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600200" y="35661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connection that decides which node runs next.</a:t>
            </a:r>
            <a:endParaRPr lang="en-US" sz="1400" dirty="0"/>
          </a:p>
        </p:txBody>
      </p:sp>
      <p:sp>
        <p:nvSpPr>
          <p:cNvPr id="18" name="Checkpoint card"/>
          <p:cNvSpPr/>
          <p:nvPr/>
        </p:nvSpPr>
        <p:spPr>
          <a:xfrm>
            <a:off x="4663440" y="292608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Checkpoint circle"/>
          <p:cNvSpPr/>
          <p:nvPr/>
        </p:nvSpPr>
        <p:spPr>
          <a:xfrm>
            <a:off x="4892040" y="32004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Checkpoint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1262" y="3379622"/>
            <a:ext cx="281635" cy="28163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1500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Checkpoint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0" y="35661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Saved state that supports resuming a run when configured.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is LangSmith?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platform for understanding how your AI app runs and measuring how well it performs.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Tracing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Inspect prompts, model responses, tool calls, and timing.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529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Evaluation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72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versions on a test dataset using defined criteria.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9417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Benefits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684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 failures and check whether a change improves quality.</a:t>
            </a:r>
            <a:endParaRPr lang="en-US" sz="1400" dirty="0"/>
          </a:p>
        </p:txBody>
      </p:sp>
      <p:sp>
        <p:nvSpPr>
          <p:cNvPr id="10" name="LangSmith panel"/>
          <p:cNvSpPr/>
          <p:nvPr/>
        </p:nvSpPr>
        <p:spPr>
          <a:xfrm>
            <a:off x="5029200" y="1188720"/>
            <a:ext cx="35661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A trace of one run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9202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</a:t>
            </a:r>
            <a:endParaRPr lang="en-US" sz="1400" dirty="0"/>
          </a:p>
        </p:txBody>
      </p:sp>
      <p:sp>
        <p:nvSpPr>
          <p:cNvPr id="13" name="Run bar"/>
          <p:cNvSpPr/>
          <p:nvPr/>
        </p:nvSpPr>
        <p:spPr>
          <a:xfrm>
            <a:off x="6172200" y="1947672"/>
            <a:ext cx="2103120" cy="310896"/>
          </a:xfrm>
          <a:prstGeom prst="roundRect">
            <a:avLst>
              <a:gd name="adj" fmla="val 1764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25603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Step 1</a:t>
            </a:r>
            <a:endParaRPr lang="en-US" sz="1400" dirty="0"/>
          </a:p>
        </p:txBody>
      </p:sp>
      <p:sp>
        <p:nvSpPr>
          <p:cNvPr id="15" name="Step 1 bar"/>
          <p:cNvSpPr/>
          <p:nvPr/>
        </p:nvSpPr>
        <p:spPr>
          <a:xfrm>
            <a:off x="6172200" y="2587752"/>
            <a:ext cx="731520" cy="310896"/>
          </a:xfrm>
          <a:prstGeom prst="roundRect">
            <a:avLst>
              <a:gd name="adj" fmla="val 1764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57800" y="32004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Step 2</a:t>
            </a:r>
            <a:endParaRPr lang="en-US" sz="1400" dirty="0"/>
          </a:p>
        </p:txBody>
      </p:sp>
      <p:sp>
        <p:nvSpPr>
          <p:cNvPr id="17" name="Step 2 bar"/>
          <p:cNvSpPr/>
          <p:nvPr/>
        </p:nvSpPr>
        <p:spPr>
          <a:xfrm>
            <a:off x="6903720" y="3227832"/>
            <a:ext cx="1371600" cy="310896"/>
          </a:xfrm>
          <a:prstGeom prst="roundRect">
            <a:avLst>
              <a:gd name="adj" fmla="val 1764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57800" y="3840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Illustrative only: each bar is a step, and its length is its duration.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LangChain, LangGraph, and LangSmith</a:t>
            </a:r>
            <a:endParaRPr lang="en-US" sz="3600" dirty="0"/>
          </a:p>
        </p:txBody>
      </p:sp>
      <p:graphicFrame>
        <p:nvGraphicFramePr>
          <p:cNvPr id="8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48840"/>
                <a:gridCol w="2194560"/>
                <a:gridCol w="2148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Compare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LangChain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LangGraph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LangSmith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Main role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App components and agents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Workflow control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Tracing and testing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You define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Prompts, models, and tools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State, nodes, and edges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Test cases and evaluators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Typical use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Document Q&amp;A or a chatbot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workflow with branches or review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Debugging or version comparison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You can use them together. Each solves a different part of the project.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17373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Our project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A RAG workflow built with LangGraph</a:t>
            </a:r>
            <a:endParaRPr lang="en-US" sz="2000" dirty="0"/>
          </a:p>
        </p:txBody>
      </p:sp>
      <p:sp>
        <p:nvSpPr>
          <p:cNvPr id="4" name="Project circle"/>
          <p:cNvSpPr/>
          <p:nvPr/>
        </p:nvSpPr>
        <p:spPr>
          <a:xfrm>
            <a:off x="6400800" y="1417320"/>
            <a:ext cx="2011680" cy="2011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Projec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4070" y="1980590"/>
            <a:ext cx="885139" cy="8851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How the workflow runs</a:t>
            </a:r>
            <a:endParaRPr lang="en-US" sz="3600" dirty="0"/>
          </a:p>
        </p:txBody>
      </p:sp>
      <p:sp>
        <p:nvSpPr>
          <p:cNvPr id="3" name="START"/>
          <p:cNvSpPr/>
          <p:nvPr/>
        </p:nvSpPr>
        <p:spPr>
          <a:xfrm>
            <a:off x="777240" y="1371600"/>
            <a:ext cx="1188720" cy="5486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START</a:t>
            </a:r>
            <a:endParaRPr lang="en-US" sz="1600" dirty="0"/>
          </a:p>
        </p:txBody>
      </p:sp>
      <p:sp>
        <p:nvSpPr>
          <p:cNvPr id="5" name="retrieve node"/>
          <p:cNvSpPr/>
          <p:nvPr/>
        </p:nvSpPr>
        <p:spPr>
          <a:xfrm>
            <a:off x="2423160" y="1371600"/>
            <a:ext cx="182880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2316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retrieve</a:t>
            </a:r>
            <a:endParaRPr lang="en-US" sz="1600" dirty="0"/>
          </a:p>
        </p:txBody>
      </p:sp>
      <p:sp>
        <p:nvSpPr>
          <p:cNvPr id="7" name="generate node"/>
          <p:cNvSpPr/>
          <p:nvPr/>
        </p:nvSpPr>
        <p:spPr>
          <a:xfrm>
            <a:off x="4709160" y="1371600"/>
            <a:ext cx="182880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916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generate</a:t>
            </a:r>
            <a:endParaRPr lang="en-US" sz="1600" dirty="0"/>
          </a:p>
        </p:txBody>
      </p:sp>
      <p:sp>
        <p:nvSpPr>
          <p:cNvPr id="9" name="END"/>
          <p:cNvSpPr/>
          <p:nvPr/>
        </p:nvSpPr>
        <p:spPr>
          <a:xfrm>
            <a:off x="6995160" y="1371600"/>
            <a:ext cx="1188720" cy="5486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95160" y="13716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END</a:t>
            </a:r>
            <a:endParaRPr lang="en-US" sz="1600" dirty="0"/>
          </a:p>
        </p:txBody>
      </p:sp>
      <p:sp>
        <p:nvSpPr>
          <p:cNvPr id="11" name="Flow arrow 1"/>
          <p:cNvSpPr/>
          <p:nvPr/>
        </p:nvSpPr>
        <p:spPr>
          <a:xfrm>
            <a:off x="1965960" y="1645920"/>
            <a:ext cx="457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Flow arrow 2"/>
          <p:cNvSpPr/>
          <p:nvPr/>
        </p:nvSpPr>
        <p:spPr>
          <a:xfrm>
            <a:off x="4251960" y="1645920"/>
            <a:ext cx="457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Flow arrow 3"/>
          <p:cNvSpPr/>
          <p:nvPr/>
        </p:nvSpPr>
        <p:spPr>
          <a:xfrm>
            <a:off x="6537960" y="1645920"/>
            <a:ext cx="457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286000" y="2103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Finds the 2 most similar documents and saves them as context.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103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Asks the Groq LLM to answer using only that context.</a:t>
            </a:r>
            <a:endParaRPr lang="en-US" sz="1400" dirty="0"/>
          </a:p>
        </p:txBody>
      </p:sp>
      <p:sp>
        <p:nvSpPr>
          <p:cNvPr id="16" name="State panel"/>
          <p:cNvSpPr/>
          <p:nvPr/>
        </p:nvSpPr>
        <p:spPr>
          <a:xfrm>
            <a:off x="548640" y="3200400"/>
            <a:ext cx="8046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337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Shared state passed between nodes</a:t>
            </a:r>
            <a:endParaRPr lang="en-US" sz="1400" dirty="0"/>
          </a:p>
        </p:txBody>
      </p:sp>
      <p:sp>
        <p:nvSpPr>
          <p:cNvPr id="18" name="question: str chip"/>
          <p:cNvSpPr/>
          <p:nvPr/>
        </p:nvSpPr>
        <p:spPr>
          <a:xfrm>
            <a:off x="777240" y="3749040"/>
            <a:ext cx="237744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749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str</a:t>
            </a:r>
            <a:endParaRPr lang="en-US" sz="1400" dirty="0"/>
          </a:p>
        </p:txBody>
      </p:sp>
      <p:sp>
        <p:nvSpPr>
          <p:cNvPr id="20" name="context: str chip"/>
          <p:cNvSpPr/>
          <p:nvPr/>
        </p:nvSpPr>
        <p:spPr>
          <a:xfrm>
            <a:off x="3383280" y="3749040"/>
            <a:ext cx="237744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83280" y="3749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str</a:t>
            </a:r>
            <a:endParaRPr lang="en-US" sz="1400" dirty="0"/>
          </a:p>
        </p:txBody>
      </p:sp>
      <p:sp>
        <p:nvSpPr>
          <p:cNvPr id="22" name="answer: str chip"/>
          <p:cNvSpPr/>
          <p:nvPr/>
        </p:nvSpPr>
        <p:spPr>
          <a:xfrm>
            <a:off x="5989320" y="3749040"/>
            <a:ext cx="237744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89320" y="3749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str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graph in code</a:t>
            </a:r>
            <a:endParaRPr lang="en-US" sz="3600" dirty="0"/>
          </a:p>
        </p:txBody>
      </p:sp>
      <p:sp>
        <p:nvSpPr>
          <p:cNvPr id="3" name="Code block"/>
          <p:cNvSpPr/>
          <p:nvPr/>
        </p:nvSpPr>
        <p:spPr>
          <a:xfrm>
            <a:off x="548640" y="1280160"/>
            <a:ext cx="5029200" cy="3200400"/>
          </a:xfrm>
          <a:prstGeom prst="roundRect">
            <a:avLst>
              <a:gd name="adj" fmla="val 285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777240" y="141732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State(TypedDict):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question: str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context: str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answer: str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 = StateGraph(State)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builder.add_node("retrieve", retrieve)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builder.add_node("generate", generate)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builder.add_edge(START, "retrieve")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builder.add_edge("retrieve", "generate")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builder.add_edge("generate", END)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= builder.compile()</a:t>
            </a:r>
            <a:endParaRPr lang="en-US" sz="1400" dirty="0"/>
          </a:p>
        </p:txBody>
      </p:sp>
      <p:sp>
        <p:nvSpPr>
          <p:cNvPr id="5" name="Step 1"/>
          <p:cNvSpPr/>
          <p:nvPr/>
        </p:nvSpPr>
        <p:spPr>
          <a:xfrm>
            <a:off x="5852160" y="13258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521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46520" y="1325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Define the state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645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Fields shared by every node</a:t>
            </a:r>
            <a:endParaRPr lang="en-US" sz="1400" dirty="0"/>
          </a:p>
        </p:txBody>
      </p:sp>
      <p:sp>
        <p:nvSpPr>
          <p:cNvPr id="9" name="Step 2"/>
          <p:cNvSpPr/>
          <p:nvPr/>
        </p:nvSpPr>
        <p:spPr>
          <a:xfrm>
            <a:off x="5852160" y="24231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521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423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Add nodes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743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Each node is a Python function</a:t>
            </a:r>
            <a:endParaRPr lang="en-US" sz="1400" dirty="0"/>
          </a:p>
        </p:txBody>
      </p:sp>
      <p:sp>
        <p:nvSpPr>
          <p:cNvPr id="13" name="Step 3"/>
          <p:cNvSpPr/>
          <p:nvPr/>
        </p:nvSpPr>
        <p:spPr>
          <a:xfrm>
            <a:off x="5852160" y="35204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5204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Connect and compile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8404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Edges set the order, then graph.invoke() runs 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is under the hood</a:t>
            </a:r>
            <a:endParaRPr lang="en-US" sz="3600" dirty="0"/>
          </a:p>
        </p:txBody>
      </p:sp>
      <p:sp>
        <p:nvSpPr>
          <p:cNvPr id="3" name="Documents retrieved card"/>
          <p:cNvSpPr/>
          <p:nvPr/>
        </p:nvSpPr>
        <p:spPr>
          <a:xfrm>
            <a:off x="548640" y="1280160"/>
            <a:ext cx="1828800" cy="22860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k = 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40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Documents retrieved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43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per question</a:t>
            </a:r>
            <a:endParaRPr lang="en-US" sz="1400" dirty="0"/>
          </a:p>
        </p:txBody>
      </p:sp>
      <p:sp>
        <p:nvSpPr>
          <p:cNvPr id="7" name="Sample sentences card"/>
          <p:cNvSpPr/>
          <p:nvPr/>
        </p:nvSpPr>
        <p:spPr>
          <a:xfrm>
            <a:off x="2624328" y="1280160"/>
            <a:ext cx="1828800" cy="22860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761488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3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761488" y="2240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Sample sentences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61488" y="2743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in the knowledge base</a:t>
            </a:r>
            <a:endParaRPr lang="en-US" sz="1400" dirty="0"/>
          </a:p>
        </p:txBody>
      </p:sp>
      <p:sp>
        <p:nvSpPr>
          <p:cNvPr id="11" name="Local embeddings card"/>
          <p:cNvSpPr/>
          <p:nvPr/>
        </p:nvSpPr>
        <p:spPr>
          <a:xfrm>
            <a:off x="4700016" y="1280160"/>
            <a:ext cx="1828800" cy="22860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837176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MiniLM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837176" y="2240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Local embeddings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37176" y="2743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all-MiniLM-L6-v2 on CPU</a:t>
            </a:r>
            <a:endParaRPr lang="en-US" sz="1400" dirty="0"/>
          </a:p>
        </p:txBody>
      </p:sp>
      <p:sp>
        <p:nvSpPr>
          <p:cNvPr id="15" name="Consistent answers card"/>
          <p:cNvSpPr/>
          <p:nvPr/>
        </p:nvSpPr>
        <p:spPr>
          <a:xfrm>
            <a:off x="6775704" y="1280160"/>
            <a:ext cx="1828800" cy="22860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912864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temp 0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912864" y="2240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Consistent answers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12864" y="2743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gpt-oss-120b via Groq</a:t>
            </a:r>
            <a:endParaRPr lang="en-US" sz="1400" dirty="0"/>
          </a:p>
        </p:txBody>
      </p:sp>
      <p:sp>
        <p:nvSpPr>
          <p:cNvPr id="19" name="Grounding banner"/>
          <p:cNvSpPr/>
          <p:nvPr/>
        </p:nvSpPr>
        <p:spPr>
          <a:xfrm>
            <a:off x="548640" y="3794760"/>
            <a:ext cx="8046720" cy="640080"/>
          </a:xfrm>
          <a:prstGeom prst="roundRect">
            <a:avLst>
              <a:gd name="adj" fmla="val 17143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7947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If the context does not contain the answer, the model says it does not know.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simple learning path</a:t>
            </a:r>
            <a:endParaRPr lang="en-US" sz="3600" dirty="0"/>
          </a:p>
        </p:txBody>
      </p:sp>
      <p:sp>
        <p:nvSpPr>
          <p:cNvPr id="3" name="LangChain row"/>
          <p:cNvSpPr/>
          <p:nvPr/>
        </p:nvSpPr>
        <p:spPr>
          <a:xfrm>
            <a:off x="548640" y="1280160"/>
            <a:ext cx="8046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Number 1"/>
          <p:cNvSpPr/>
          <p:nvPr/>
        </p:nvSpPr>
        <p:spPr>
          <a:xfrm>
            <a:off x="77724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801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LangChain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12801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a small document Q&amp;A app and inspect retrieved text.</a:t>
            </a:r>
            <a:endParaRPr lang="en-US" sz="1400" dirty="0"/>
          </a:p>
        </p:txBody>
      </p:sp>
      <p:sp>
        <p:nvSpPr>
          <p:cNvPr id="8" name="LangGraph row"/>
          <p:cNvSpPr/>
          <p:nvPr/>
        </p:nvSpPr>
        <p:spPr>
          <a:xfrm>
            <a:off x="548640" y="2304288"/>
            <a:ext cx="8046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Number 2"/>
          <p:cNvSpPr/>
          <p:nvPr/>
        </p:nvSpPr>
        <p:spPr>
          <a:xfrm>
            <a:off x="777240" y="248716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30428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LangGraph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230428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Turn retrieval and answer generation into separate nodes.</a:t>
            </a:r>
            <a:endParaRPr lang="en-US" sz="1400" dirty="0"/>
          </a:p>
        </p:txBody>
      </p:sp>
      <p:sp>
        <p:nvSpPr>
          <p:cNvPr id="13" name="LangSmith row"/>
          <p:cNvSpPr/>
          <p:nvPr/>
        </p:nvSpPr>
        <p:spPr>
          <a:xfrm>
            <a:off x="548640" y="3328416"/>
            <a:ext cx="8046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Number 3"/>
          <p:cNvSpPr/>
          <p:nvPr/>
        </p:nvSpPr>
        <p:spPr>
          <a:xfrm>
            <a:off x="777240" y="3511296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511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328416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LangSmith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0" y="3328416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Trace one run, then compare two prompts on five test questions.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Our project covers step 2.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Build. </a:t>
            </a:r>
            <a:pPr algn="l"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Control. </a:t>
            </a:r>
            <a:pPr algn="l" indent="0" marL="0">
              <a:buNone/>
            </a:pPr>
            <a:r>
              <a:rPr lang="en-US" sz="4000" b="1" dirty="0">
                <a:solidFill>
                  <a:schemeClr val="accent5"/>
                </a:solidFill>
              </a:rPr>
              <a:t>Inspect.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Build with LangChain. Control with LangGraph. Inspect with LangSmith.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Official documentation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LangChain overview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26060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chemeClr val="accent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https://docs.langchain.com/oss/python/langchain/overview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LangGraph overview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31089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chemeClr val="accent4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https://docs.langchain.com/oss/python/langgraph/overview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LangSmith observability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36118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chemeClr val="accent4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https://docs.langchain.com/langsmith/observability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114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LangSmith evaluation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41148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chemeClr val="accent4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https://docs.langchain.com/langsmith/evaluation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Stack">
  <a:themeElements>
    <a:clrScheme name="LangStack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047857"/>
      </a:accent1>
      <a:accent2>
        <a:srgbClr val="4F46E5"/>
      </a:accent2>
      <a:accent3>
        <a:srgbClr val="B45309"/>
      </a:accent3>
      <a:accent4>
        <a:srgbClr val="38BDF8"/>
      </a:accent4>
      <a:accent5>
        <a:srgbClr val="FBBF24"/>
      </a:accent5>
      <a:accent6>
        <a:srgbClr val="64748B"/>
      </a:accent6>
      <a:hlink>
        <a:srgbClr val="38BDF8"/>
      </a:hlink>
      <a:folHlink>
        <a:srgbClr val="A78BFA"/>
      </a:folHlink>
    </a:clrScheme>
    <a:fontScheme name="LangStac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LangChain, LangGraph, and LangSmith</dc:title>
  <dc:subject>PptxGenJS Presentation</dc:subject>
  <dc:creator>PptxGenJS</dc:creator>
  <cp:lastModifiedBy>PptxGenJS</cp:lastModifiedBy>
  <cp:revision>1</cp:revision>
  <dcterms:created xsi:type="dcterms:W3CDTF">2026-10-13T22:42:45Z</dcterms:created>
  <dcterms:modified xsi:type="dcterms:W3CDTF">2026-10-13T22:42:45Z</dcterms:modified>
</cp:coreProperties>
</file>