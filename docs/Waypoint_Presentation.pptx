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0"/>
            <a:ext cx="54864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ctr" indent="0" marL="0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PROJECT PRESENTATION</a:t>
            </a:r>
            <a:endParaRPr lang="en-US" sz="1300" dirty="0"/>
          </a:p>
        </p:txBody>
      </p:sp>
      <p:sp>
        <p:nvSpPr>
          <p:cNvPr id="3" name="Text 1"/>
          <p:cNvSpPr txBox="1"/>
          <p:nvPr>
            <p:ph idx="101" type="title" hasCustomPrompt="1"/>
          </p:nvPr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Waypoint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017520" y="2423160"/>
            <a:ext cx="3108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2505456"/>
            <a:ext cx="310896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743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LangGraph RAG question-answering system you can watch run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Anushay Ayat  |  SMIT, AI and Data Science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goal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801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models can sound confident while being wrong about your own documents. Retrieval-augmented generation grounds each answer in text you supply.</a:t>
            </a:r>
            <a:endParaRPr lang="en-US" sz="1800" dirty="0"/>
          </a:p>
        </p:txBody>
      </p:sp>
      <p:sp>
        <p:nvSpPr>
          <p:cNvPr id="4" name="Goal 1"/>
          <p:cNvSpPr/>
          <p:nvPr/>
        </p:nvSpPr>
        <p:spPr>
          <a:xfrm>
            <a:off x="4846320" y="1280160"/>
            <a:ext cx="3749040" cy="868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Goal 1 rule"/>
          <p:cNvSpPr/>
          <p:nvPr/>
        </p:nvSpPr>
        <p:spPr>
          <a:xfrm>
            <a:off x="4846320" y="1280160"/>
            <a:ext cx="37490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38988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only from the user’s documents</a:t>
            </a:r>
            <a:endParaRPr lang="en-US" sz="1400" dirty="0"/>
          </a:p>
        </p:txBody>
      </p:sp>
      <p:sp>
        <p:nvSpPr>
          <p:cNvPr id="8" name="Goal 2"/>
          <p:cNvSpPr/>
          <p:nvPr/>
        </p:nvSpPr>
        <p:spPr>
          <a:xfrm>
            <a:off x="4846320" y="2331720"/>
            <a:ext cx="3749040" cy="868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Goal 2 rule"/>
          <p:cNvSpPr/>
          <p:nvPr/>
        </p:nvSpPr>
        <p:spPr>
          <a:xfrm>
            <a:off x="4846320" y="2331720"/>
            <a:ext cx="37490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244144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Make the workflow visible, step by step</a:t>
            </a:r>
            <a:endParaRPr lang="en-US" sz="1400" dirty="0"/>
          </a:p>
        </p:txBody>
      </p:sp>
      <p:sp>
        <p:nvSpPr>
          <p:cNvPr id="12" name="Goal 3"/>
          <p:cNvSpPr/>
          <p:nvPr/>
        </p:nvSpPr>
        <p:spPr>
          <a:xfrm>
            <a:off x="4846320" y="3383280"/>
            <a:ext cx="3749040" cy="868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Goal 3 rule"/>
          <p:cNvSpPr/>
          <p:nvPr/>
        </p:nvSpPr>
        <p:spPr>
          <a:xfrm>
            <a:off x="4846320" y="3383280"/>
            <a:ext cx="37490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349300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474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the stack simple: FastAPI, LangGraph, Groq, plain HTML, CSS, and JavaScript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RAG?</a:t>
            </a:r>
            <a:endParaRPr lang="en-US" sz="3200" dirty="0"/>
          </a:p>
        </p:txBody>
      </p:sp>
      <p:sp>
        <p:nvSpPr>
          <p:cNvPr id="3" name="Retrieve"/>
          <p:cNvSpPr/>
          <p:nvPr/>
        </p:nvSpPr>
        <p:spPr>
          <a:xfrm>
            <a:off x="868680" y="1371600"/>
            <a:ext cx="2377440" cy="2103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Retrieve rule"/>
          <p:cNvSpPr/>
          <p:nvPr/>
        </p:nvSpPr>
        <p:spPr>
          <a:xfrm>
            <a:off x="868680" y="1371600"/>
            <a:ext cx="23774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passages most similar to the question, using embeddings.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4408" y="2423160"/>
            <a:ext cx="28346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Augment"/>
          <p:cNvSpPr/>
          <p:nvPr/>
        </p:nvSpPr>
        <p:spPr>
          <a:xfrm>
            <a:off x="3566160" y="1371600"/>
            <a:ext cx="2377440" cy="2103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Augment rule"/>
          <p:cNvSpPr/>
          <p:nvPr/>
        </p:nvSpPr>
        <p:spPr>
          <a:xfrm>
            <a:off x="3566160" y="1371600"/>
            <a:ext cx="23774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Place those passages into the prompt as context.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61888" y="2423160"/>
            <a:ext cx="28346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Generate"/>
          <p:cNvSpPr/>
          <p:nvPr/>
        </p:nvSpPr>
        <p:spPr>
          <a:xfrm>
            <a:off x="6263640" y="1371600"/>
            <a:ext cx="2377440" cy="2103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Generate rule"/>
          <p:cNvSpPr/>
          <p:nvPr/>
        </p:nvSpPr>
        <p:spPr>
          <a:xfrm>
            <a:off x="6263640" y="1371600"/>
            <a:ext cx="23774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answers using only that context.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Result: answers grounded in your documents, with sources you can check.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tools, three roles</a:t>
            </a:r>
            <a:endParaRPr lang="en-US" sz="3200" dirty="0"/>
          </a:p>
        </p:txBody>
      </p:sp>
      <p:sp>
        <p:nvSpPr>
          <p:cNvPr id="3" name="LangChain"/>
          <p:cNvSpPr/>
          <p:nvPr/>
        </p:nvSpPr>
        <p:spPr>
          <a:xfrm>
            <a:off x="868680" y="1280160"/>
            <a:ext cx="2377440" cy="2011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LangChain rule"/>
          <p:cNvSpPr/>
          <p:nvPr/>
        </p:nvSpPr>
        <p:spPr>
          <a:xfrm>
            <a:off x="868680" y="1280160"/>
            <a:ext cx="23774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 the application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 models, prompts, retrievers, and tools.</a:t>
            </a:r>
            <a:endParaRPr lang="en-US" sz="1400" dirty="0"/>
          </a:p>
        </p:txBody>
      </p:sp>
      <p:sp>
        <p:nvSpPr>
          <p:cNvPr id="8" name="LangGraph"/>
          <p:cNvSpPr/>
          <p:nvPr/>
        </p:nvSpPr>
        <p:spPr>
          <a:xfrm>
            <a:off x="3566160" y="1280160"/>
            <a:ext cx="2377440" cy="2011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LangGraph rule"/>
          <p:cNvSpPr/>
          <p:nvPr/>
        </p:nvSpPr>
        <p:spPr>
          <a:xfrm>
            <a:off x="3566160" y="1280160"/>
            <a:ext cx="23774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Control the workflow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Define steps, branches, and shared state.</a:t>
            </a:r>
            <a:endParaRPr lang="en-US" sz="1400" dirty="0"/>
          </a:p>
        </p:txBody>
      </p:sp>
      <p:sp>
        <p:nvSpPr>
          <p:cNvPr id="13" name="LangSmith"/>
          <p:cNvSpPr/>
          <p:nvPr/>
        </p:nvSpPr>
        <p:spPr>
          <a:xfrm>
            <a:off x="6263640" y="1280160"/>
            <a:ext cx="2377440" cy="2011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LangSmith rule"/>
          <p:cNvSpPr/>
          <p:nvPr/>
        </p:nvSpPr>
        <p:spPr>
          <a:xfrm>
            <a:off x="6263640" y="1280160"/>
            <a:ext cx="23774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LangSmith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Inspect and improve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Trace runs and evaluate output quality.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Waypoint: LangGraph runs the workflow, LangChain integrations connect Groq and Hugging Face embeddings, and LangSmith tracing can be switched on with environment variables.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Browser"/>
          <p:cNvSpPr/>
          <p:nvPr/>
        </p:nvSpPr>
        <p:spPr>
          <a:xfrm>
            <a:off x="868680" y="1371600"/>
            <a:ext cx="21031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Browser rule"/>
          <p:cNvSpPr/>
          <p:nvPr/>
        </p:nvSpPr>
        <p:spPr>
          <a:xfrm>
            <a:off x="868680" y="1371600"/>
            <a:ext cx="210312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HTML, CSS, JavaScript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90088" y="1874520"/>
            <a:ext cx="51206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FastAPI"/>
          <p:cNvSpPr/>
          <p:nvPr/>
        </p:nvSpPr>
        <p:spPr>
          <a:xfrm>
            <a:off x="3520440" y="1371600"/>
            <a:ext cx="21031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FastAPI rule"/>
          <p:cNvSpPr/>
          <p:nvPr/>
        </p:nvSpPr>
        <p:spPr>
          <a:xfrm>
            <a:off x="3520440" y="1371600"/>
            <a:ext cx="210312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REST and streaming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41848" y="1874520"/>
            <a:ext cx="51206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LangGraph"/>
          <p:cNvSpPr/>
          <p:nvPr/>
        </p:nvSpPr>
        <p:spPr>
          <a:xfrm>
            <a:off x="6172200" y="1371600"/>
            <a:ext cx="21031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LangGraph rule"/>
          <p:cNvSpPr/>
          <p:nvPr/>
        </p:nvSpPr>
        <p:spPr>
          <a:xfrm>
            <a:off x="6172200" y="1371600"/>
            <a:ext cx="210312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retrieve, route, generate</a:t>
            </a:r>
            <a:endParaRPr lang="en-US" sz="1300" dirty="0"/>
          </a:p>
        </p:txBody>
      </p:sp>
      <p:sp>
        <p:nvSpPr>
          <p:cNvPr id="17" name="Library"/>
          <p:cNvSpPr/>
          <p:nvPr/>
        </p:nvSpPr>
        <p:spPr>
          <a:xfrm>
            <a:off x="5486400" y="3291840"/>
            <a:ext cx="146304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Library rule"/>
          <p:cNvSpPr/>
          <p:nvPr/>
        </p:nvSpPr>
        <p:spPr>
          <a:xfrm>
            <a:off x="5486400" y="3291840"/>
            <a:ext cx="14630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vector store, MiniLM embeddings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395728"/>
            <a:ext cx="0" cy="87782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Groq LLM"/>
          <p:cNvSpPr/>
          <p:nvPr/>
        </p:nvSpPr>
        <p:spPr>
          <a:xfrm>
            <a:off x="7315200" y="3291840"/>
            <a:ext cx="146304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Groq LLM rule"/>
          <p:cNvSpPr/>
          <p:nvPr/>
        </p:nvSpPr>
        <p:spPr>
          <a:xfrm>
            <a:off x="7315200" y="3291840"/>
            <a:ext cx="146304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 LLM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gpt-oss-120b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2395728"/>
            <a:ext cx="0" cy="87782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6868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same FastAPI app also serves the frontend, so one command runs everything.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LangGraph workflow</a:t>
            </a:r>
            <a:endParaRPr lang="en-US" sz="3200" dirty="0"/>
          </a:p>
        </p:txBody>
      </p:sp>
      <p:sp>
        <p:nvSpPr>
          <p:cNvPr id="3" name="START"/>
          <p:cNvSpPr/>
          <p:nvPr/>
        </p:nvSpPr>
        <p:spPr>
          <a:xfrm>
            <a:off x="868680" y="2103120"/>
            <a:ext cx="109728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</a:t>
            </a:r>
            <a:endParaRPr lang="en-US" sz="1400" dirty="0"/>
          </a:p>
        </p:txBody>
      </p:sp>
      <p:sp>
        <p:nvSpPr>
          <p:cNvPr id="5" name="retrieve"/>
          <p:cNvSpPr/>
          <p:nvPr/>
        </p:nvSpPr>
        <p:spPr>
          <a:xfrm>
            <a:off x="2423160" y="210312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retrieve</a:t>
            </a:r>
            <a:endParaRPr lang="en-US" sz="1400" dirty="0"/>
          </a:p>
        </p:txBody>
      </p:sp>
      <p:sp>
        <p:nvSpPr>
          <p:cNvPr id="7" name="generate"/>
          <p:cNvSpPr/>
          <p:nvPr/>
        </p:nvSpPr>
        <p:spPr>
          <a:xfrm>
            <a:off x="4663440" y="141732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generate</a:t>
            </a:r>
            <a:endParaRPr lang="en-US" sz="1400" dirty="0"/>
          </a:p>
        </p:txBody>
      </p:sp>
      <p:sp>
        <p:nvSpPr>
          <p:cNvPr id="9" name="fallback"/>
          <p:cNvSpPr/>
          <p:nvPr/>
        </p:nvSpPr>
        <p:spPr>
          <a:xfrm>
            <a:off x="4663440" y="278892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fallback</a:t>
            </a:r>
            <a:endParaRPr lang="en-US" sz="1400" dirty="0"/>
          </a:p>
        </p:txBody>
      </p:sp>
      <p:sp>
        <p:nvSpPr>
          <p:cNvPr id="11" name="END"/>
          <p:cNvSpPr/>
          <p:nvPr/>
        </p:nvSpPr>
        <p:spPr>
          <a:xfrm>
            <a:off x="7086600" y="2103120"/>
            <a:ext cx="109728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65960" y="237744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3886200" y="1691640"/>
            <a:ext cx="77724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86200" y="2423160"/>
            <a:ext cx="77724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26480" y="1691640"/>
            <a:ext cx="960120" cy="5943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6126480" y="2468880"/>
            <a:ext cx="960120" cy="5943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29184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good match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weak match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conditional edge compares the best match score with MIN_SCORE. Weak matches take the fallback branch, which makes no model call.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State, nodes, and edges</a:t>
            </a:r>
            <a:endParaRPr lang="en-US" sz="3200" dirty="0"/>
          </a:p>
        </p:txBody>
      </p:sp>
      <p:sp>
        <p:nvSpPr>
          <p:cNvPr id="3" name="Code block"/>
          <p:cNvSpPr/>
          <p:nvPr/>
        </p:nvSpPr>
        <p:spPr>
          <a:xfrm>
            <a:off x="868680" y="1188720"/>
            <a:ext cx="5029200" cy="3429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298448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State(TypedDict):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question: 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k: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sources: list[dict]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context: 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answer: 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builder.add_node("retrieve", retrieve)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builder.add_node("generate", generate)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builder.add_node("fallback", fallback)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"retrieve")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"retrieve", route,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{"generate": "generate",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"fallback": "fallback"})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builder.add_edge("generate", END)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builder.add_edge("fallback", END)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0" y="123444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 shared by every node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Plain Python functions that return state updates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42900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conditional edge picks generate or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 and streaming</a:t>
            </a:r>
            <a:endParaRPr lang="en-US" sz="3200" dirty="0"/>
          </a:p>
        </p:txBody>
      </p:sp>
      <p:graphicFrame>
        <p:nvGraphicFramePr>
          <p:cNvPr id="9" name="A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Path</a:t>
                      </a:r>
                      <a:endParaRPr lang="en-US" sz="13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/api/health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Mode, models, passage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/api/graph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and edges of the 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/api/documents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or add passages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/api/documents/upload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a PDF, TXT, or MD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/api/ask/stream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and stream node-by-node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6868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Stream events: start, node_start, node_end, done, error. Each is one JSON object per line, so the interface can animate every step as it happens.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Frontend: the transit-map idea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8016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graph is drawn as a metro line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train stops at each node and shows its timing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state panel fills in as nodes finish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Answers carry citations that jump to their source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Plain HTML, CSS, and JavaScript, no build step</a:t>
            </a:r>
            <a:endParaRPr lang="en-US" sz="1500" dirty="0"/>
          </a:p>
        </p:txBody>
      </p:sp>
      <p:pic>
        <p:nvPicPr>
          <p:cNvPr id="4" name="Screenshot: answer view" descr="/home/claude/proj/waypoint-langgraph-rag/docs/screenshots/ans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88720"/>
            <a:ext cx="4023360" cy="34564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and themes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344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Conditional routing with a fallback branch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Citations, sources, and match scores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PDF, TXT, and MD upload into the library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Journey log with Markdown export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 motion, chimes, and Listen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 themes: Paper, Night, Blueprint, Terminal, Neon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mode that needs no API key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Responsive layout for phones</a:t>
            </a:r>
            <a:endParaRPr lang="en-US" sz="1400" dirty="0"/>
          </a:p>
        </p:txBody>
      </p:sp>
      <p:pic>
        <p:nvPicPr>
          <p:cNvPr id="4" name="Screenshot: five themes" descr="/home/claude/deck2/themes_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097280"/>
            <a:ext cx="3017520" cy="35387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 question</a:t>
            </a:r>
            <a:endParaRPr lang="en-US" sz="3200" dirty="0"/>
          </a:p>
        </p:txBody>
      </p:sp>
      <p:sp>
        <p:nvSpPr>
          <p:cNvPr id="3" name="Screenshot: Ask a question frame"/>
          <p:cNvSpPr/>
          <p:nvPr/>
        </p:nvSpPr>
        <p:spPr>
          <a:xfrm>
            <a:off x="841248" y="1241298"/>
            <a:ext cx="5175504" cy="309524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Screenshot: Ask a question" descr="/home/claude/proj/waypoint-langgraph-rag/docs/screenshots/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68730"/>
            <a:ext cx="5120640" cy="30403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37160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 a question or click an example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Choose how many passages to retrieve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Slow motion and station chimes help in demos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line</a:t>
            </a:r>
            <a:endParaRPr lang="en-US" sz="3200" dirty="0"/>
          </a:p>
        </p:txBody>
      </p:sp>
      <p:sp>
        <p:nvSpPr>
          <p:cNvPr id="3" name="Screenshot: Watch the line frame"/>
          <p:cNvSpPr/>
          <p:nvPr/>
        </p:nvSpPr>
        <p:spPr>
          <a:xfrm>
            <a:off x="841248" y="1147045"/>
            <a:ext cx="4992624" cy="332946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Screenshot: Watch the line" descr="/home/claude/proj/waypoint-langgraph-rag/docs/screenshots/02-ru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74477"/>
            <a:ext cx="4937760" cy="32746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37160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train stops at retrieve, then generate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station shows its timing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state fills in as each node finishes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3200" dirty="0"/>
          </a:p>
        </p:txBody>
      </p:sp>
      <p:sp>
        <p:nvSpPr>
          <p:cNvPr id="3" name="Screenshot: The answer frame"/>
          <p:cNvSpPr/>
          <p:nvPr/>
        </p:nvSpPr>
        <p:spPr>
          <a:xfrm>
            <a:off x="841248" y="1497605"/>
            <a:ext cx="5266944" cy="258263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Screenshot: The answer" descr="/home/claude/proj/waypoint-langgraph-rag/docs/screenshots/03-ans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25037"/>
            <a:ext cx="5212080" cy="25277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137160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answer appears on a ticket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Citations such as [1] link to sources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state panel shows what each node wrote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 and sources</a:t>
            </a:r>
            <a:endParaRPr lang="en-US" sz="3200" dirty="0"/>
          </a:p>
        </p:txBody>
      </p:sp>
      <p:sp>
        <p:nvSpPr>
          <p:cNvPr id="3" name="Screenshot: citations frame"/>
          <p:cNvSpPr/>
          <p:nvPr/>
        </p:nvSpPr>
        <p:spPr>
          <a:xfrm>
            <a:off x="1478027" y="1207008"/>
            <a:ext cx="6462266" cy="2798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Screenshot: citations" descr="/home/claude/proj/waypoint-langgraph-rag/docs/screenshots/05-cit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459" y="1234440"/>
            <a:ext cx="6407402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4069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Clicking a citation scrolls to its source passage and highlights it. Each source shows its library label and a match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fallback route</a:t>
            </a:r>
            <a:endParaRPr lang="en-US" sz="3200" dirty="0"/>
          </a:p>
        </p:txBody>
      </p:sp>
      <p:sp>
        <p:nvSpPr>
          <p:cNvPr id="3" name="Screenshot: The fallback route frame"/>
          <p:cNvSpPr/>
          <p:nvPr/>
        </p:nvSpPr>
        <p:spPr>
          <a:xfrm>
            <a:off x="841248" y="1236610"/>
            <a:ext cx="5175504" cy="3196059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Screenshot: The fallback route" descr="/home/claude/proj/waypoint-langgraph-rag/docs/screenshots/04-fall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64042"/>
            <a:ext cx="5120640" cy="31411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37160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unrelated question scores below MIN_SCORE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conditional edge sends it to fallback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model call is made, and the stamp reads Rerouted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and journey log</a:t>
            </a:r>
            <a:endParaRPr lang="en-US" sz="3200" dirty="0"/>
          </a:p>
        </p:txBody>
      </p:sp>
      <p:sp>
        <p:nvSpPr>
          <p:cNvPr id="3" name="Screenshot: library frame"/>
          <p:cNvSpPr/>
          <p:nvPr/>
        </p:nvSpPr>
        <p:spPr>
          <a:xfrm>
            <a:off x="841248" y="1302594"/>
            <a:ext cx="3986784" cy="24240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Screenshot: library" descr="/home/claude/proj/waypoint-langgraph-rag/docs/screenshots/06-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30026"/>
            <a:ext cx="3931920" cy="2369148"/>
          </a:xfrm>
          <a:prstGeom prst="rect">
            <a:avLst/>
          </a:prstGeom>
        </p:spPr>
      </p:pic>
      <p:sp>
        <p:nvSpPr>
          <p:cNvPr id="5" name="Screenshot: journey log frame"/>
          <p:cNvSpPr/>
          <p:nvPr/>
        </p:nvSpPr>
        <p:spPr>
          <a:xfrm>
            <a:off x="4956048" y="1443928"/>
            <a:ext cx="3666744" cy="131838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Screenshot: journey log" descr="/home/claude/proj/waypoint-langgraph-rag/docs/screenshots/07-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71360"/>
            <a:ext cx="3611880" cy="1263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Library: paste text or load a PDF, then see which passages were retrieved.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983480" y="32004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Journey log: past questions, answers, and feedback, with Markdown export.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phone</a:t>
            </a:r>
            <a:endParaRPr lang="en-US" sz="3200" dirty="0"/>
          </a:p>
        </p:txBody>
      </p:sp>
      <p:sp>
        <p:nvSpPr>
          <p:cNvPr id="3" name="Screenshot: On a phone frame"/>
          <p:cNvSpPr/>
          <p:nvPr/>
        </p:nvSpPr>
        <p:spPr>
          <a:xfrm>
            <a:off x="1260958" y="1069848"/>
            <a:ext cx="1410005" cy="352958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Screenshot: On a phone" descr="/home/claude/proj/waypoint-langgraph-rag/docs/screenshots/08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097280"/>
            <a:ext cx="1355141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383280" y="137160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layout switches to one column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map turns vertical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feature stays available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and quality</a:t>
            </a:r>
            <a:endParaRPr lang="en-US" sz="3200" dirty="0"/>
          </a:p>
        </p:txBody>
      </p:sp>
      <p:sp>
        <p:nvSpPr>
          <p:cNvPr id="3" name="Testing"/>
          <p:cNvSpPr/>
          <p:nvPr/>
        </p:nvSpPr>
        <p:spPr>
          <a:xfrm>
            <a:off x="868680" y="1234440"/>
            <a:ext cx="3657600" cy="3200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sting rule"/>
          <p:cNvSpPr/>
          <p:nvPr/>
        </p:nvSpPr>
        <p:spPr>
          <a:xfrm>
            <a:off x="868680" y="1234440"/>
            <a:ext cx="365760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116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16 automated tests with pytest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mode runs offline, so tests need no key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GitHub Actions runs them on every push</a:t>
            </a:r>
            <a:endParaRPr lang="en-US" sz="1400" dirty="0"/>
          </a:p>
        </p:txBody>
      </p:sp>
      <p:sp>
        <p:nvSpPr>
          <p:cNvPr id="7" name="Quality"/>
          <p:cNvSpPr/>
          <p:nvPr/>
        </p:nvSpPr>
        <p:spPr>
          <a:xfrm>
            <a:off x="4800600" y="1234440"/>
            <a:ext cx="3657600" cy="3200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Quality rule"/>
          <p:cNvSpPr/>
          <p:nvPr/>
        </p:nvSpPr>
        <p:spPr>
          <a:xfrm>
            <a:off x="4800600" y="1234440"/>
            <a:ext cx="365760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0116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 validation with clear error messages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Keyboard focus, screen-reader labels, and reduced-motion support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Responsive layout for phones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>
            <p:ph idx="103" type="title" hasCustomPrompt="1"/>
          </p:nvPr>
        </p:nvSpPr>
        <p:spPr>
          <a:xfrm>
            <a:off x="868680" y="320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and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731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Streaming each node makes a workflow easy to explain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fallback branch is better than an invented answer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Keeping demo mode on the same code path made testing simple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800600" y="1691640"/>
            <a:ext cx="7315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8745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Conversation memory with a LangGraph checkpointer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Token-by-token streaming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persistent vector store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 mode and OCR for scanned PDFs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F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3017520" y="2514600"/>
            <a:ext cx="3108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788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github.com/scientistayat-engineer/waypoint-langgraph-rag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ritage">
  <a:themeElements>
    <a:clrScheme name="Heritage">
      <a:dk1>
        <a:srgbClr val="14332B"/>
      </a:dk1>
      <a:lt1>
        <a:srgbClr val="FFFFFF"/>
      </a:lt1>
      <a:dk2>
        <a:srgbClr val="0E2520"/>
      </a:dk2>
      <a:lt2>
        <a:srgbClr val="FBF7EE"/>
      </a:lt2>
      <a:accent1>
        <a:srgbClr val="B8902B"/>
      </a:accent1>
      <a:accent2>
        <a:srgbClr val="2F6B5A"/>
      </a:accent2>
      <a:accent3>
        <a:srgbClr val="8C4A2F"/>
      </a:accent3>
      <a:accent4>
        <a:srgbClr val="D9C58A"/>
      </a:accent4>
      <a:accent5>
        <a:srgbClr val="5E6F66"/>
      </a:accent5>
      <a:accent6>
        <a:srgbClr val="E3DAC3"/>
      </a:accent6>
      <a:hlink>
        <a:srgbClr val="B8902B"/>
      </a:hlink>
      <a:folHlink>
        <a:srgbClr val="5E6F66"/>
      </a:folHlink>
    </a:clrScheme>
    <a:fontScheme name="Heritag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Waypoint: a LangGraph RAG question-answering system</dc:title>
  <dc:subject>PptxGenJS Presentation</dc:subject>
  <dc:creator>PptxGenJS</dc:creator>
  <cp:lastModifiedBy>PptxGenJS</cp:lastModifiedBy>
  <cp:revision>1</cp:revision>
  <dcterms:created xsi:type="dcterms:W3CDTF">2026-10-17T19:23:36Z</dcterms:created>
  <dcterms:modified xsi:type="dcterms:W3CDTF">2026-10-17T19:23:36Z</dcterms:modified>
</cp:coreProperties>
</file>